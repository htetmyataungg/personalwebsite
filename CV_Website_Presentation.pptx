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1188720"/>
          </a:xfrm>
          <a:prstGeom prst="rect">
            <a:avLst/>
          </a:prstGeom>
          <a:solidFill>
            <a:srgbClr val="0D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1188720"/>
          </a:xfrm>
          <a:prstGeom prst="rect">
            <a:avLst/>
          </a:prstGeom>
          <a:solidFill>
            <a:srgbClr val="0D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1188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1188720"/>
          </a:xfrm>
          <a:prstGeom prst="rect">
            <a:avLst/>
          </a:prstGeom>
          <a:solidFill>
            <a:srgbClr val="0D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1188720"/>
          </a:xfrm>
          <a:prstGeom prst="rect">
            <a:avLst/>
          </a:prstGeom>
          <a:solidFill>
            <a:srgbClr val="0D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mpqeq4e_j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2" y="2194560"/>
            <a:ext cx="246888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41732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Personal CV Website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502920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67BFF"/>
                </a:solidFill>
                <a:latin typeface="Arial"/>
              </a:rPr>
              <a:t>Design, Features &amp; Code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Htet Myat Aung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  <a:latin typeface="Arial"/>
              </a:rPr>
              <a:t>BSc Computer Science (AI) · Royal Holloway, University of London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024128" cy="292608"/>
          </a:xfrm>
          <a:prstGeom prst="roundRect">
            <a:avLst/>
          </a:prstGeom>
          <a:solidFill>
            <a:srgbClr val="1E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867BFF"/>
                </a:solidFill>
                <a:latin typeface="Arial"/>
              </a:rPr>
              <a:t>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36776" y="4572000"/>
            <a:ext cx="905256" cy="292608"/>
          </a:xfrm>
          <a:prstGeom prst="roundRect">
            <a:avLst/>
          </a:prstGeom>
          <a:solidFill>
            <a:srgbClr val="1E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867BFF"/>
                </a:solidFill>
                <a:latin typeface="Arial"/>
              </a:rPr>
              <a:t>CSS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4572000"/>
            <a:ext cx="1737360" cy="292608"/>
          </a:xfrm>
          <a:prstGeom prst="roundRect">
            <a:avLst/>
          </a:prstGeom>
          <a:solidFill>
            <a:srgbClr val="1E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867BFF"/>
                </a:solidFill>
                <a:latin typeface="Arial"/>
              </a:rPr>
              <a:t>JavaScript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4572000"/>
            <a:ext cx="1380744" cy="292608"/>
          </a:xfrm>
          <a:prstGeom prst="roundRect">
            <a:avLst/>
          </a:prstGeom>
          <a:solidFill>
            <a:srgbClr val="1E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867BFF"/>
                </a:solidFill>
                <a:latin typeface="Arial"/>
              </a:rPr>
              <a:t>5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4572000"/>
            <a:ext cx="1737360" cy="292608"/>
          </a:xfrm>
          <a:prstGeom prst="roundRect">
            <a:avLst/>
          </a:prstGeom>
          <a:solidFill>
            <a:srgbClr val="1E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867BFF"/>
                </a:solidFill>
                <a:latin typeface="Arial"/>
              </a:rPr>
              <a:t>Dark Theme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17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0"/>
                </a:solidFill>
                <a:latin typeface="Arial"/>
              </a:rPr>
              <a:t>10-minute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BB"/>
                </a:solidFill>
                <a:latin typeface="Arial"/>
              </a:rPr>
              <a:t>A hand-coded personal portfolio &amp; CV website — no frameworks, no templates.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51760" cy="1417320"/>
          </a:xfrm>
          <a:prstGeom prst="rect">
            <a:avLst/>
          </a:prstGeom>
          <a:solidFill>
            <a:srgbClr val="1E1A44"/>
          </a:solidFill>
          <a:ln w="1270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67B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HTML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2651760" cy="1417320"/>
          </a:xfrm>
          <a:prstGeom prst="rect">
            <a:avLst/>
          </a:prstGeom>
          <a:solidFill>
            <a:srgbClr val="0D2A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Projects Showcased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2651760" cy="1417320"/>
          </a:xfrm>
          <a:prstGeom prst="rect">
            <a:avLst/>
          </a:prstGeom>
          <a:solidFill>
            <a:srgbClr val="2A22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  <a:latin typeface="Arial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Countries Reached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554480"/>
            <a:ext cx="2651760" cy="1417320"/>
          </a:xfrm>
          <a:prstGeom prst="rect">
            <a:avLst/>
          </a:prstGeom>
          <a:solidFill>
            <a:srgbClr val="181838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6916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5B4FC"/>
                </a:solidFill>
                <a:latin typeface="Arial"/>
              </a:rPr>
              <a:t>1st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31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Class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004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67BFF"/>
                </a:solidFill>
                <a:latin typeface="Arial"/>
              </a:rPr>
              <a:t>What the website includes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11880"/>
            <a:ext cx="2194560" cy="960120"/>
          </a:xfrm>
          <a:prstGeom prst="rect">
            <a:avLst/>
          </a:prstGeom>
          <a:solidFill>
            <a:srgbClr val="13121F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703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9959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BB"/>
                </a:solidFill>
                <a:latin typeface="Arial"/>
              </a:rPr>
              <a:t>Hero · Stats · Featured projects · Skills · Contact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2072" y="3611880"/>
            <a:ext cx="2194560" cy="960120"/>
          </a:xfrm>
          <a:prstGeom prst="rect">
            <a:avLst/>
          </a:prstGeom>
          <a:solidFill>
            <a:srgbClr val="13121F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3703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About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9959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BB"/>
                </a:solidFill>
                <a:latin typeface="Arial"/>
              </a:rPr>
              <a:t>Extended bio · Education · Quick-facts sidebar · CTA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21224" y="3611880"/>
            <a:ext cx="2194560" cy="960120"/>
          </a:xfrm>
          <a:prstGeom prst="rect">
            <a:avLst/>
          </a:prstGeom>
          <a:solidFill>
            <a:srgbClr val="13121F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0952" y="3703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Projects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39959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BB"/>
                </a:solidFill>
                <a:latin typeface="Arial"/>
              </a:rPr>
              <a:t>7 project cards · Filter tabs · MyanPay video feature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0376" y="3611880"/>
            <a:ext cx="2194560" cy="960120"/>
          </a:xfrm>
          <a:prstGeom prst="rect">
            <a:avLst/>
          </a:prstGeom>
          <a:solidFill>
            <a:srgbClr val="13121F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0104" y="3703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9959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BB"/>
                </a:solidFill>
                <a:latin typeface="Arial"/>
              </a:rPr>
              <a:t>3 roles · DICE Lab research · achievement bullets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39528" y="3611880"/>
            <a:ext cx="2194560" cy="960120"/>
          </a:xfrm>
          <a:prstGeom prst="rect">
            <a:avLst/>
          </a:prstGeom>
          <a:solidFill>
            <a:srgbClr val="13121F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703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9256" y="39959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BB"/>
                </a:solidFill>
                <a:latin typeface="Arial"/>
              </a:rPr>
              <a:t>Form with JS validation · Direct links · Availability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36592"/>
            <a:ext cx="11155680" cy="19050"/>
          </a:xfrm>
          <a:prstGeom prst="rect">
            <a:avLst/>
          </a:prstGeom>
          <a:solidFill>
            <a:srgbClr val="2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28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0"/>
                </a:solidFill>
                <a:latin typeface="Arial"/>
              </a:rPr>
              <a:t>One shared  main.css  (1,100+ lines)  ·  Per-page ES module JavaScript  ·  Responsive (600px &amp; 700px breakpoints)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Design &amp; Preparation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187700"/>
            <a:ext cx="10698480" cy="25400"/>
          </a:xfrm>
          <a:prstGeom prst="rect">
            <a:avLst/>
          </a:prstGeom>
          <a:solidFill>
            <a:srgbClr val="2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1892" y="2999232"/>
            <a:ext cx="402336" cy="402336"/>
          </a:xfrm>
          <a:prstGeom prst="ellipse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1892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D14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3535" y="2999232"/>
            <a:ext cx="19050" cy="41148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" y="1581912"/>
            <a:ext cx="1554480" cy="1005840"/>
          </a:xfrm>
          <a:prstGeom prst="rect">
            <a:avLst/>
          </a:prstGeom>
          <a:solidFill>
            <a:srgbClr val="13121F"/>
          </a:solidFill>
          <a:ln w="1270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7BFF"/>
                </a:solidFill>
                <a:latin typeface="Arial"/>
              </a:rP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" y="1911096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BB"/>
                </a:solidFill>
                <a:latin typeface="Arial"/>
              </a:rPr>
              <a:t>Mapped 5 pages &amp; content. Identified audience:
recruiters &amp; researchers.</a:t>
            </a:r>
          </a:p>
        </p:txBody>
      </p:sp>
      <p:sp>
        <p:nvSpPr>
          <p:cNvPr id="12" name="Oval 11"/>
          <p:cNvSpPr/>
          <p:nvPr/>
        </p:nvSpPr>
        <p:spPr>
          <a:xfrm>
            <a:off x="3204972" y="2999232"/>
            <a:ext cx="402336" cy="40233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4972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D14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6615" y="3401568"/>
            <a:ext cx="1905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8900" y="3813048"/>
            <a:ext cx="1554480" cy="1005840"/>
          </a:xfrm>
          <a:prstGeom prst="rect">
            <a:avLst/>
          </a:prstGeom>
          <a:solidFill>
            <a:srgbClr val="13121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034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Arial"/>
              </a:rPr>
              <a:t>Design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0340" y="414223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BB"/>
                </a:solidFill>
                <a:latin typeface="Arial"/>
              </a:rPr>
              <a:t>Dark theme #0d0d14. Purple #867bff accent.
Consistent colour tokens across all pages.</a:t>
            </a:r>
          </a:p>
        </p:txBody>
      </p:sp>
      <p:sp>
        <p:nvSpPr>
          <p:cNvPr id="18" name="Oval 17"/>
          <p:cNvSpPr/>
          <p:nvPr/>
        </p:nvSpPr>
        <p:spPr>
          <a:xfrm>
            <a:off x="4988052" y="2999232"/>
            <a:ext cx="402336" cy="40233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8052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D14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9695" y="2999232"/>
            <a:ext cx="1905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1980" y="1581912"/>
            <a:ext cx="1554480" cy="1005840"/>
          </a:xfrm>
          <a:prstGeom prst="rect">
            <a:avLst/>
          </a:prstGeom>
          <a:solidFill>
            <a:srgbClr val="13121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3420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Arial"/>
              </a:rPr>
              <a:t>Typography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3420" y="1911096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BB"/>
                </a:solidFill>
                <a:latin typeface="Arial"/>
              </a:rPr>
              <a:t>Google Fonts: Syne (headings) + DM Mono
(labels). Loaded via &lt;link preconnect&gt;.</a:t>
            </a:r>
          </a:p>
        </p:txBody>
      </p:sp>
      <p:sp>
        <p:nvSpPr>
          <p:cNvPr id="24" name="Oval 23"/>
          <p:cNvSpPr/>
          <p:nvPr/>
        </p:nvSpPr>
        <p:spPr>
          <a:xfrm>
            <a:off x="6771132" y="2999232"/>
            <a:ext cx="402336" cy="402336"/>
          </a:xfrm>
          <a:prstGeom prst="ellipse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1132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D14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2775" y="3401568"/>
            <a:ext cx="19050" cy="41148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5060" y="3813048"/>
            <a:ext cx="1554480" cy="1005840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650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  <a:latin typeface="Arial"/>
              </a:rPr>
              <a:t>Layout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414223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BB"/>
                </a:solidFill>
                <a:latin typeface="Arial"/>
              </a:rPr>
              <a:t>CSS Grid for multi-column sections.
Flexbox for nav &amp; inline groups.</a:t>
            </a:r>
          </a:p>
        </p:txBody>
      </p:sp>
      <p:sp>
        <p:nvSpPr>
          <p:cNvPr id="30" name="Oval 29"/>
          <p:cNvSpPr/>
          <p:nvPr/>
        </p:nvSpPr>
        <p:spPr>
          <a:xfrm>
            <a:off x="8554212" y="2999232"/>
            <a:ext cx="402336" cy="40233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4212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D14"/>
                </a:solidFill>
                <a:latin typeface="Arial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5855" y="2999232"/>
            <a:ext cx="19050" cy="411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8140" y="1581912"/>
            <a:ext cx="1554480" cy="1005840"/>
          </a:xfrm>
          <a:prstGeom prst="rect">
            <a:avLst/>
          </a:prstGeom>
          <a:solidFill>
            <a:srgbClr val="13121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9580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Arial"/>
              </a:rPr>
              <a:t>JS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9580" y="1911096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BB"/>
                </a:solidFill>
                <a:latin typeface="Arial"/>
              </a:rPr>
              <a:t>animations.js shared module — imported by
all 5 page JS files. Keeps code DRY.</a:t>
            </a:r>
          </a:p>
        </p:txBody>
      </p:sp>
      <p:sp>
        <p:nvSpPr>
          <p:cNvPr id="36" name="Oval 35"/>
          <p:cNvSpPr/>
          <p:nvPr/>
        </p:nvSpPr>
        <p:spPr>
          <a:xfrm>
            <a:off x="10337292" y="2999232"/>
            <a:ext cx="402336" cy="40233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7292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0D14"/>
                </a:solidFill>
                <a:latin typeface="Arial"/>
              </a:rPr>
              <a:t>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28935" y="3401568"/>
            <a:ext cx="19050" cy="4114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61220" y="3813048"/>
            <a:ext cx="1554480" cy="1005840"/>
          </a:xfrm>
          <a:prstGeom prst="rect">
            <a:avLst/>
          </a:prstGeom>
          <a:solidFill>
            <a:srgbClr val="13121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5266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Arial"/>
              </a:rPr>
              <a:t>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2660" y="414223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BB"/>
                </a:solidFill>
                <a:latin typeface="Arial"/>
              </a:rPr>
              <a:t>Chrome + Firefox. DevTools responsive mode
for 600px &amp; 700px breakpoints.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Website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1540" y="1097280"/>
            <a:ext cx="1920240" cy="685800"/>
          </a:xfrm>
          <a:prstGeom prst="rect">
            <a:avLst/>
          </a:prstGeom>
          <a:solidFill>
            <a:srgbClr val="13121F"/>
          </a:solidFill>
          <a:ln w="1905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" y="1097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67BFF"/>
                </a:solidFill>
                <a:latin typeface="Arial"/>
              </a:rPr>
              <a:t>index.html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2948" y="1097280"/>
            <a:ext cx="1920240" cy="685800"/>
          </a:xfrm>
          <a:prstGeom prst="rect">
            <a:avLst/>
          </a:prstGeom>
          <a:solidFill>
            <a:srgbClr val="13121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948" y="1097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Arial"/>
              </a:rPr>
              <a:t>about.html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4356" y="1097280"/>
            <a:ext cx="1920240" cy="685800"/>
          </a:xfrm>
          <a:prstGeom prst="rect">
            <a:avLst/>
          </a:prstGeom>
          <a:solidFill>
            <a:srgbClr val="13121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4356" y="1097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Arial"/>
              </a:rPr>
              <a:t>projects.html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55764" y="1097280"/>
            <a:ext cx="1920240" cy="685800"/>
          </a:xfrm>
          <a:prstGeom prst="rect">
            <a:avLst/>
          </a:prstGeom>
          <a:solidFill>
            <a:srgbClr val="13121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55764" y="1097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  <a:latin typeface="Arial"/>
              </a:rPr>
              <a:t>experience.html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7172" y="1097280"/>
            <a:ext cx="1920240" cy="685800"/>
          </a:xfrm>
          <a:prstGeom prst="rect">
            <a:avLst/>
          </a:prstGeom>
          <a:solidFill>
            <a:srgbClr val="13121F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7172" y="1097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  <a:latin typeface="Arial"/>
              </a:rPr>
              <a:t>contact.html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2618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70"/>
                </a:solidFill>
                <a:latin typeface="Arial"/>
              </a:rPr>
              <a:t>5 HTML Pages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5756" y="2240280"/>
            <a:ext cx="2377440" cy="594360"/>
          </a:xfrm>
          <a:prstGeom prst="rect">
            <a:avLst/>
          </a:prstGeom>
          <a:solidFill>
            <a:srgbClr val="1E1A44"/>
          </a:solidFill>
          <a:ln w="2540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5756" y="2240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67BFF"/>
                </a:solidFill>
                <a:latin typeface="Arial"/>
              </a:rPr>
              <a:t>main.css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350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70"/>
                </a:solidFill>
                <a:latin typeface="Arial"/>
              </a:rPr>
              <a:t>Shared by all 5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2135" y="1783080"/>
            <a:ext cx="19050" cy="4572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63543" y="1783080"/>
            <a:ext cx="1905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4951" y="1783080"/>
            <a:ext cx="1905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6359" y="1783080"/>
            <a:ext cx="19050" cy="4572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27767" y="1783080"/>
            <a:ext cx="1905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" y="3291840"/>
            <a:ext cx="1645920" cy="640080"/>
          </a:xfrm>
          <a:prstGeom prst="rect">
            <a:avLst/>
          </a:prstGeom>
          <a:solidFill>
            <a:srgbClr val="13121F"/>
          </a:solidFill>
          <a:ln w="1905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" y="3337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67BFF"/>
                </a:solidFill>
                <a:latin typeface="Arial"/>
              </a:rPr>
              <a:t>animations.js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" y="36393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shared 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10612" y="3291840"/>
            <a:ext cx="1645920" cy="640080"/>
          </a:xfrm>
          <a:prstGeom prst="rect">
            <a:avLst/>
          </a:prstGeom>
          <a:solidFill>
            <a:srgbClr val="13121F"/>
          </a:solidFill>
          <a:ln w="1905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0612" y="3337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67BFF"/>
                </a:solidFill>
                <a:latin typeface="Arial"/>
              </a:rPr>
              <a:t>main.js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0612" y="36393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home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4548" y="3291840"/>
            <a:ext cx="1645920" cy="640080"/>
          </a:xfrm>
          <a:prstGeom prst="rect">
            <a:avLst/>
          </a:prstGeom>
          <a:solidFill>
            <a:srgbClr val="13121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4548" y="3337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  <a:latin typeface="Arial"/>
              </a:rPr>
              <a:t>about.js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4548" y="36393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about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8484" y="3291840"/>
            <a:ext cx="1645920" cy="640080"/>
          </a:xfrm>
          <a:prstGeom prst="rect">
            <a:avLst/>
          </a:prstGeom>
          <a:solidFill>
            <a:srgbClr val="13121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8484" y="3337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F24"/>
                </a:solidFill>
                <a:latin typeface="Arial"/>
              </a:rPr>
              <a:t>projects.js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8484" y="36393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projects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32420" y="3291840"/>
            <a:ext cx="1645920" cy="640080"/>
          </a:xfrm>
          <a:prstGeom prst="rect">
            <a:avLst/>
          </a:prstGeom>
          <a:solidFill>
            <a:srgbClr val="13121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2420" y="3337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5B4FC"/>
                </a:solidFill>
                <a:latin typeface="Arial"/>
              </a:rPr>
              <a:t>experience.js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2420" y="36393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experience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06356" y="3291840"/>
            <a:ext cx="1645920" cy="640080"/>
          </a:xfrm>
          <a:prstGeom prst="rect">
            <a:avLst/>
          </a:prstGeom>
          <a:solidFill>
            <a:srgbClr val="13121F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06356" y="33375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923C"/>
                </a:solidFill>
                <a:latin typeface="Arial"/>
              </a:rPr>
              <a:t>contact.js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6356" y="363931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contact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6936" y="3931920"/>
            <a:ext cx="25400" cy="41148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74036" y="4005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70"/>
                </a:solidFill>
                <a:latin typeface="Arial"/>
              </a:rPr>
              <a:t>exported &amp; imported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34564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70"/>
                </a:solidFill>
                <a:latin typeface="Arial"/>
              </a:rPr>
              <a:t>JS Labels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370832"/>
            <a:ext cx="11155680" cy="19050"/>
          </a:xfrm>
          <a:prstGeom prst="rect">
            <a:avLst/>
          </a:prstGeom>
          <a:solidFill>
            <a:srgbClr val="2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4805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No build tools — runs directly in the browser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type="module" enables ES import/export between JS files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Google Fonts loaded with &lt;link preconnect&gt; for zero layout shift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Single CSS file = one source of truth for all design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HTML — Navigation &amp; Shared Header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24128"/>
            <a:ext cx="5806440" cy="5394960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580644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006" y="1123798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9166" y="1123798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6326" y="1123798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088136"/>
            <a:ext cx="520293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090879"/>
            <a:ext cx="51114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index.html — navigation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5806440" cy="5120640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&lt;div class="header"&gt;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&lt;a href="index.html"&gt;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&lt;img src="profile.jpg" class="nav-logo"&gt;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&lt;a class="nav-link active-page" href="about.html"&gt;About&lt;/a&gt;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&lt;a class="nav-link" href="projects.html"&gt;Projects&lt;/a&gt;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&lt;a class="nav-link" href="experience.html"&gt;Experience&lt;/a&gt;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&lt;a class="nav-link" href="index.html#skills"&gt;Skills&lt;/a&gt;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&lt;a class="nav-link" href="contact.html"&gt;Contact&lt;/a&gt;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&lt;!-- Dropdown for secondary links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&lt;div class="nav-dropdown"&gt;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&lt;button class="nav-dropdown-toggle"&gt;More &amp;#9662;&lt;/button&gt;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&lt;div class="dropdown-menu"&gt;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&lt;a href="https://github.com/HtetMyatAungg"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   target="_blank" rel="noopener noreferrer"&gt;GitHub&lt;/a&gt;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&lt;a href="...drive.google.com/..."&gt;Download CV&lt;/a&gt;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&lt;a href="mailto:henry.htetmyataung@gmail.com"&gt;Email Me&lt;/a&gt;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&lt;/div&gt;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&lt;/div&gt;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&lt;button id="hire-me"&gt;LinkedIn&lt;/button&gt;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&lt;/div&gt;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024128"/>
            <a:ext cx="5440680" cy="502920"/>
          </a:xfrm>
          <a:prstGeom prst="rect">
            <a:avLst/>
          </a:prstGeom>
          <a:solidFill>
            <a:srgbClr val="0D0D14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9672" y="1147572"/>
            <a:ext cx="256032" cy="256032"/>
          </a:xfrm>
          <a:prstGeom prst="ellipse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133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/>
              </a:rPr>
              <a:t>About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1133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0"/>
                </a:solidFill>
                <a:latin typeface="Arial"/>
              </a:rPr>
              <a:t>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1133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0"/>
                </a:solidFill>
                <a:latin typeface="Arial"/>
              </a:rPr>
              <a:t>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1133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0"/>
                </a:solidFill>
                <a:latin typeface="Arial"/>
              </a:rPr>
              <a:t>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13848" y="1133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0"/>
                </a:solidFill>
                <a:latin typeface="Arial"/>
              </a:rPr>
              <a:t>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36808" y="1133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0"/>
                </a:solidFill>
                <a:latin typeface="Arial"/>
              </a:rPr>
              <a:t>More 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64240" y="1115568"/>
            <a:ext cx="713232" cy="320040"/>
          </a:xfrm>
          <a:prstGeom prst="rect">
            <a:avLst/>
          </a:prstGeom>
          <a:solidFill>
            <a:srgbClr val="635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82528" y="1133856"/>
            <a:ext cx="694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LinkedIn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63624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70"/>
                </a:solidFill>
                <a:latin typeface="Arial"/>
              </a:rPr>
              <a:t>↑ what the browser renders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719072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position:sticky; top:0 — navbar stays fixed while page scrolls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active-page class = white text on current page, grey on others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Profile &lt;img&gt; doubles as home button (click logo → index.html)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Dropdown menu uses CSS :hover — no JavaScript needed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LinkedIn button (#hire-me) styled &amp; linked in each page's JS file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rel="noopener noreferrer" on external links — security best practice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Smooth anchor scroll: JS catches href="#skills" → scrollIntoView()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CSS — Design System &amp; Colour 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307592" cy="685800"/>
          </a:xfrm>
          <a:prstGeom prst="rect">
            <a:avLst/>
          </a:prstGeom>
          <a:solidFill>
            <a:srgbClr val="0D0D14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#0d0d14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Background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6816" y="1078992"/>
            <a:ext cx="1307592" cy="685800"/>
          </a:xfrm>
          <a:prstGeom prst="rect">
            <a:avLst/>
          </a:prstGeom>
          <a:solidFill>
            <a:srgbClr val="13121F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6816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#13121f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Card Surface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078992"/>
            <a:ext cx="1307592" cy="685800"/>
          </a:xfrm>
          <a:prstGeom prst="rect">
            <a:avLst/>
          </a:prstGeom>
          <a:solidFill>
            <a:srgbClr val="867BFF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#867bff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Accent &amp; CTA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4608" y="1078992"/>
            <a:ext cx="1307592" cy="685800"/>
          </a:xfrm>
          <a:prstGeom prst="rect">
            <a:avLst/>
          </a:prstGeom>
          <a:solidFill>
            <a:srgbClr val="A5B4FC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#a5b4fc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AI/ML Badge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1078992"/>
            <a:ext cx="1307592" cy="685800"/>
          </a:xfrm>
          <a:prstGeom prst="rect">
            <a:avLst/>
          </a:prstGeom>
          <a:solidFill>
            <a:srgbClr val="34D399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#34d399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Live Badge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078992"/>
            <a:ext cx="1307592" cy="685800"/>
          </a:xfrm>
          <a:prstGeom prst="rect">
            <a:avLst/>
          </a:prstGeom>
          <a:solidFill>
            <a:srgbClr val="FBBF24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#fbbf24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Hackathon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6296" y="1078992"/>
            <a:ext cx="1307592" cy="685800"/>
          </a:xfrm>
          <a:prstGeom prst="rect">
            <a:avLst/>
          </a:prstGeom>
          <a:solidFill>
            <a:srgbClr val="F87171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#f87171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Form Error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80192" y="1078992"/>
            <a:ext cx="1307592" cy="685800"/>
          </a:xfrm>
          <a:prstGeom prst="rect">
            <a:avLst/>
          </a:prstGeom>
          <a:solidFill>
            <a:srgbClr val="0A66C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0192" y="1792224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BB"/>
                </a:solidFill>
                <a:latin typeface="Courier New"/>
              </a:rPr>
              <a:t>#0a66c2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1993392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LinkedIn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Typography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88920"/>
            <a:ext cx="5303520" cy="3474720"/>
          </a:xfrm>
          <a:prstGeom prst="rect">
            <a:avLst/>
          </a:prstGeom>
          <a:solidFill>
            <a:srgbClr val="13121F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926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Syne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7BFF"/>
                </a:solidFill>
                <a:latin typeface="Arial"/>
              </a:rPr>
              <a:t>SKILL CATEGORY LABELS — WEIGHT 700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794760"/>
            <a:ext cx="4754880" cy="19050"/>
          </a:xfrm>
          <a:prstGeom prst="rect">
            <a:avLst/>
          </a:prstGeom>
          <a:solidFill>
            <a:srgbClr val="2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ourier New"/>
              </a:rPr>
              <a:t>DM Mono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3434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Courier New"/>
              </a:rPr>
              <a:t>skill-item labels · metric values ·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663440"/>
            <a:ext cx="4754880" cy="19050"/>
          </a:xfrm>
          <a:prstGeom prst="rect">
            <a:avLst/>
          </a:prstGeom>
          <a:solidFill>
            <a:srgbClr val="2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7548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0"/>
                </a:solidFill>
                <a:latin typeface="Arial"/>
              </a:rPr>
              <a:t>Arial / Helvetica — body text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0474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70"/>
                </a:solidFill>
                <a:latin typeface="Arial"/>
              </a:rPr>
              <a:t>Loaded via Google Fonts &lt;link preconnect&gt;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245059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Global CSS Reset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788920"/>
            <a:ext cx="5760720" cy="3474720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2788920"/>
            <a:ext cx="576072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17006" y="2888590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4166" y="2888590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91326" y="2888590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29400" y="2852928"/>
            <a:ext cx="515721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84264" y="2855671"/>
            <a:ext cx="506577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main.css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063240"/>
            <a:ext cx="5760720" cy="3200400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/* Dark theme applied to EVERY element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*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color: white;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background-color: #0d0d14;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font-family: Arial, Helvetica, sans-serif;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padding-right: 1em;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padding-left: 1em;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/* Responsive media — never overflow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img, video, iframe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max-width: 100%;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height: auto;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/* Section title with purple rule after text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.title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gap: 8px;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.title::after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content: "";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flex: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height: 1px;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background: rgb(72, 36, 156);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/* Accent text + pill for badge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.intro-text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color: #867bff;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background-color: #857bf82d;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border-radius: 1em;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padding: 1em;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CSS — Grid &amp; Flexbox Layouts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CSS Grid — Projects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706880" cy="1051560"/>
          </a:xfrm>
          <a:prstGeom prst="rect">
            <a:avLst/>
          </a:prstGeom>
          <a:solidFill>
            <a:srgbClr val="13121F"/>
          </a:solidFill>
          <a:ln w="1270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70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7BFF"/>
                </a:solidFill>
                <a:latin typeface="Arial"/>
              </a:rPr>
              <a:t>MyanPay
(Web)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1240" y="1417320"/>
            <a:ext cx="1706880" cy="1051560"/>
          </a:xfrm>
          <a:prstGeom prst="rect">
            <a:avLst/>
          </a:prstGeom>
          <a:solidFill>
            <a:srgbClr val="13121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1240" y="1737360"/>
            <a:ext cx="170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  <a:latin typeface="Arial"/>
              </a:rPr>
              <a:t>MyanLearn
(Web)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9560" y="1417320"/>
            <a:ext cx="1706880" cy="1051560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9560" y="1737360"/>
            <a:ext cx="170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5B4FC"/>
                </a:solidFill>
                <a:latin typeface="Arial"/>
              </a:rPr>
              <a:t>NASA NEO
(ML)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1706880" cy="1051560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70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5B4FC"/>
                </a:solidFill>
                <a:latin typeface="Arial"/>
              </a:rPr>
              <a:t>Face Clf
(ML)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1240" y="2560320"/>
            <a:ext cx="1706880" cy="1051560"/>
          </a:xfrm>
          <a:prstGeom prst="rect">
            <a:avLst/>
          </a:prstGeom>
          <a:solidFill>
            <a:srgbClr val="13121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1240" y="2880360"/>
            <a:ext cx="170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4D399"/>
                </a:solidFill>
                <a:latin typeface="Arial"/>
              </a:rPr>
              <a:t>CF Review
(Web)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9560" y="2560320"/>
            <a:ext cx="1706880" cy="1051560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9560" y="2880360"/>
            <a:ext cx="170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5B4FC"/>
                </a:solidFill>
                <a:latin typeface="Arial"/>
              </a:rPr>
              <a:t>Minesweeper
(ML)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764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grid-template-columns: repeat(auto-fill, minmax(300px, 1fr))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Flexbox — Navigation Bar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43400"/>
            <a:ext cx="5303520" cy="502920"/>
          </a:xfrm>
          <a:prstGeom prst="rect">
            <a:avLst/>
          </a:prstGeom>
          <a:solidFill>
            <a:srgbClr val="15142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7BFF"/>
                </a:solidFill>
                <a:latin typeface="Arial"/>
              </a:rPr>
              <a:t>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About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2224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Projects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016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Exp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443484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LinkedIn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920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display:flex  justify-content:space-evenly  position:sticky  top:0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74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Responsive Breakpoints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413248"/>
            <a:ext cx="5303520" cy="1261872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413248"/>
            <a:ext cx="530352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3446" y="5512918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606" y="5512918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7766" y="5512918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" y="5477256"/>
            <a:ext cx="470001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5479999"/>
            <a:ext cx="460857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main.css — @media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687568"/>
            <a:ext cx="5303520" cy="987552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CCCFF"/>
                </a:solidFill>
                <a:latin typeface="Courier New"/>
              </a:rPr>
              <a:t>@media (max-width: 600px)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CCCFF"/>
                </a:solidFill>
                <a:latin typeface="Courier New"/>
              </a:rPr>
              <a:t>  .project-grid-new { grid-template-columns: 1fr;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CCCFF"/>
                </a:solidFill>
                <a:latin typeface="Courier New"/>
              </a:rPr>
              <a:t>  .skills-grid       { grid-template-columns: 1fr;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CCCFF"/>
                </a:solidFill>
                <a:latin typeface="Courier New"/>
              </a:rPr>
              <a:t>  .video-feature     { grid-template-columns: 1fr;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CCCFF"/>
                </a:solidFill>
                <a:latin typeface="Courier New"/>
              </a:rPr>
              <a:t>  h1.name            { font-size: 1.8em;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CCCCFF"/>
                </a:solidFill>
                <a:latin typeface="Courier New"/>
              </a:rPr>
              <a:t>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024128"/>
            <a:ext cx="5760720" cy="5650992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1024128"/>
            <a:ext cx="576072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17006" y="1123798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54166" y="1123798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1326" y="1123798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29400" y="1088136"/>
            <a:ext cx="515721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4264" y="1090879"/>
            <a:ext cx="506577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main.css — layout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1298448"/>
            <a:ext cx="5760720" cy="5376672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/* ── Projects: responsive auto-fill grid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.project-grid-new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grid-template-columns: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repeat(auto-fill, minmax(300px, 1fr));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gap: 1.25em;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/* ── About page: sidebar + bio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.about-page-grid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grid-template-columns: 260px 1fr;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gap: 3em;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align-items: start;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/* ── Skills: 3 equal columns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.skills-grid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grid-template-columns: repeat(3, 1fr);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gap: 16px;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/* ── MyanPay feature: text | video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.video-feature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display: grid;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grid-template-columns: 1fr 1fr;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gap: 2em;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/* ── Sticky navigation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.header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justify-content: space-evenly;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align-items: center;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position: sticky;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top: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z-index: 1000;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border-bottom: 1px solid #131e7c;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/* ── CTA button row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.buttons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gap: 1em;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CSS — Cards, Badges &amp; Scroll Animations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24128"/>
            <a:ext cx="5212080" cy="4846320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521208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006" y="1123798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9166" y="1123798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6326" y="1123798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088136"/>
            <a:ext cx="460857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090879"/>
            <a:ext cx="45171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main.css — .pcard + .animate-on-scroll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5212080" cy="4572000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/* ── Base project card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.pcard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background: #13121f;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border: 1px solid rgba(255,255,255,0.07);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border-radius: 1em;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padding: 1.4em 1.5em 1.2em;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display: flex;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flex-direction: column;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gap: 0.6em;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transition: transform 0.2s,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            border-color 0.2s,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            box-shadow 0.2s;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.pcard:hover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transform: translateY(-3px);      /* subtle lift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border-color: rgba(134,123,255,0.4);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box-shadow: 0 8px 30px rgba(99,102,241,0.12);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.pcard.featured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background: linear-gradient(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  135deg, #13121f 0%, #1a1630 100%);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/* ── Scroll animation ── */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.animate-on-scroll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opacity: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transform: translateY(24px);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transition: opacity 0.55s ease,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            transform 0.55s ease;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.animate-on-scroll.visible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opacity: 1;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  transform: translateY(0);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CCCCFF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024128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Card visual (hover → lifts 3px)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2560320" cy="1188720"/>
          </a:xfrm>
          <a:prstGeom prst="rect">
            <a:avLst/>
          </a:prstGeom>
          <a:solidFill>
            <a:srgbClr val="13121F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417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70"/>
                </a:solidFill>
                <a:latin typeface="Arial"/>
              </a:rP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6733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Project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47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7BFF"/>
                </a:solidFill>
                <a:latin typeface="Arial"/>
              </a:rPr>
              <a:t>Some metric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316736"/>
            <a:ext cx="2560320" cy="1188720"/>
          </a:xfrm>
          <a:prstGeom prst="rect">
            <a:avLst/>
          </a:prstGeom>
          <a:solidFill>
            <a:srgbClr val="13121F"/>
          </a:solidFill>
          <a:ln w="1905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3624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7BFF"/>
                </a:solidFill>
                <a:latin typeface="Arial"/>
              </a:rPr>
              <a:t>On Hover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618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Project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892807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7BFF"/>
                </a:solidFill>
                <a:latin typeface="Arial"/>
              </a:rPr>
              <a:t>Some metric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5420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70"/>
                </a:solidFill>
                <a:latin typeface="Arial"/>
              </a:rPr>
              <a:t>↑ translateY(-3px)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34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Status badges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182112"/>
            <a:ext cx="822960" cy="274320"/>
          </a:xfrm>
          <a:prstGeom prst="roundRect">
            <a:avLst/>
          </a:prstGeom>
          <a:solidFill>
            <a:srgbClr val="0D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34D399"/>
                </a:solidFill>
                <a:latin typeface="Arial"/>
              </a:rPr>
              <a:t>LIVE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182112"/>
            <a:ext cx="1920240" cy="274320"/>
          </a:xfrm>
          <a:prstGeom prst="roundRect">
            <a:avLst/>
          </a:prstGeom>
          <a:solidFill>
            <a:srgbClr val="2A2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BBF24"/>
                </a:solidFill>
                <a:latin typeface="Arial"/>
              </a:rPr>
              <a:t>HEDERA HACKATHON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182112"/>
            <a:ext cx="1097280" cy="274320"/>
          </a:xfrm>
          <a:prstGeom prst="roundRect">
            <a:avLst/>
          </a:prstGeom>
          <a:solidFill>
            <a:srgbClr val="1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A5B4FC"/>
                </a:solidFill>
                <a:latin typeface="Arial"/>
              </a:rPr>
              <a:t>AI / 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3182112"/>
            <a:ext cx="1463040" cy="274320"/>
          </a:xfrm>
          <a:prstGeom prst="roundRect">
            <a:avLst/>
          </a:prstGeom>
          <a:solidFill>
            <a:srgbClr val="2A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B923C"/>
                </a:solidFill>
                <a:latin typeface="Arial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657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Scroll animation — before &amp; after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005072"/>
            <a:ext cx="2468880" cy="777240"/>
          </a:xfrm>
          <a:prstGeom prst="rect">
            <a:avLst/>
          </a:prstGeom>
          <a:solidFill>
            <a:srgbClr val="13121F"/>
          </a:solidFill>
          <a:ln w="190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70"/>
                </a:solidFill>
                <a:latin typeface="Arial"/>
              </a:rPr>
              <a:t>Before (hidden)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  <a:latin typeface="Courier New"/>
              </a:rPr>
              <a:t>opacity: 0
translatY(24px)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4005072"/>
            <a:ext cx="2468880" cy="777240"/>
          </a:xfrm>
          <a:prstGeom prst="rect">
            <a:avLst/>
          </a:prstGeom>
          <a:solidFill>
            <a:srgbClr val="13121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Arial"/>
              </a:rPr>
              <a:t>After .visible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  <a:latin typeface="Courier New"/>
              </a:rPr>
              <a:t>opacity: 1
translatY(0)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943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translateY(-3px) hover lift: subtle depth cue keeping the dark theme clean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RGBA colour badges use transparency — they blend into the card surface naturally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opacity:0 + translateY(24px) = invisible until JS fires — prevents flash of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JavaScript — Scroll Animations  (animations.js)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24128"/>
            <a:ext cx="5943600" cy="5650992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594360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006" y="1123798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9166" y="1123798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6326" y="1123798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088136"/>
            <a:ext cx="534009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090879"/>
            <a:ext cx="52486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animations.js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5943600" cy="5376672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// Shared ES module — imported by every page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export function initScrollAnimations()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// All elements marked for animation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const targets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document.querySelectorAll('.animate-on-scroll')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if (!targets.length) return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// Apply data-delay as CSS transition-delay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// so cards stagger in one by 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targets.forEach(el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const delay = el.dataset.delay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if (delay) el.style.transitionDelay = delay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// IntersectionObserver fires when 10% of element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// enters the viewport — much better than scroll event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const observer = new IntersectionObserver(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(entries)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entries.forEach(entry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  if (entry.isIntersecting)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    // Add .visible → CSS transition plays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    entry.target.classList.add('visible')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    // Unobserve: animation fires exactly once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    observer.unobserve(entry.target)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  { threshold: 0.1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  targets.forEach(el =&gt; observer.observe(el))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// Usage in main.js (and every other page JS):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import { initScrollAnimations } from './animations.js'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CCCFF"/>
                </a:solidFill>
                <a:latin typeface="Courier New"/>
              </a:rPr>
              <a:t>initScrollAnimations()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024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How IntersectionObserver 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444752"/>
            <a:ext cx="914400" cy="960120"/>
          </a:xfrm>
          <a:prstGeom prst="rect">
            <a:avLst/>
          </a:prstGeom>
          <a:solidFill>
            <a:srgbClr val="13121F"/>
          </a:solidFill>
          <a:ln w="1905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17904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67BFF"/>
                </a:solidFill>
                <a:latin typeface="Arial"/>
              </a:rPr>
              <a:t>Page loads
Elements hidden
(opacity:0)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78765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0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71816" y="1444752"/>
            <a:ext cx="914400" cy="960120"/>
          </a:xfrm>
          <a:prstGeom prst="rect">
            <a:avLst/>
          </a:prstGeom>
          <a:solidFill>
            <a:srgbClr val="13121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1517904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5B4FC"/>
                </a:solidFill>
                <a:latin typeface="Arial"/>
              </a:rPr>
              <a:t>Observer
watches each
.animate-on-scroll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6" y="178765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0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4232" y="1444752"/>
            <a:ext cx="914400" cy="960120"/>
          </a:xfrm>
          <a:prstGeom prst="rect">
            <a:avLst/>
          </a:prstGeom>
          <a:solidFill>
            <a:srgbClr val="13121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1517904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  <a:latin typeface="Arial"/>
              </a:rPr>
              <a:t>User scrolls
10% of element
enters viewport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178765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0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56648" y="1444752"/>
            <a:ext cx="914400" cy="960120"/>
          </a:xfrm>
          <a:prstGeom prst="rect">
            <a:avLst/>
          </a:prstGeom>
          <a:solidFill>
            <a:srgbClr val="13121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8" y="1517904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  <a:latin typeface="Arial"/>
              </a:rPr>
              <a:t>JS adds
.visible class
to element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048" y="178765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0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99064" y="1444752"/>
            <a:ext cx="914400" cy="960120"/>
          </a:xfrm>
          <a:prstGeom prst="rect">
            <a:avLst/>
          </a:prstGeom>
          <a:solidFill>
            <a:srgbClr val="13121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99064" y="1517904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Arial"/>
              </a:rPr>
              <a:t>CSS transition
plays: fade up
into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578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Stagger effect with data-delay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2926080"/>
            <a:ext cx="5120640" cy="347472"/>
          </a:xfrm>
          <a:prstGeom prst="rect">
            <a:avLst/>
          </a:prstGeom>
          <a:solidFill>
            <a:srgbClr val="13121F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2926080"/>
            <a:ext cx="2304288" cy="347472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9992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D14"/>
                </a:solidFill>
                <a:latin typeface="Arial"/>
              </a:rPr>
              <a:t>data-delay="0s"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429000"/>
            <a:ext cx="5120640" cy="347472"/>
          </a:xfrm>
          <a:prstGeom prst="rect">
            <a:avLst/>
          </a:prstGeom>
          <a:solidFill>
            <a:srgbClr val="13121F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3429000"/>
            <a:ext cx="3328416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5021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D14"/>
                </a:solidFill>
                <a:latin typeface="Arial"/>
              </a:rPr>
              <a:t>data-delay="0.1s"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3931920"/>
            <a:ext cx="5120640" cy="347472"/>
          </a:xfrm>
          <a:prstGeom prst="rect">
            <a:avLst/>
          </a:prstGeom>
          <a:solidFill>
            <a:srgbClr val="13121F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29400" y="3931920"/>
            <a:ext cx="4352544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D14"/>
                </a:solidFill>
                <a:latin typeface="Arial"/>
              </a:rPr>
              <a:t>data-delay="0.2s"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5262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IntersectionObserver is more performant than a scroll event listener — browser-native, zero JS overhead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threshold:0.1 triggers when 10% enters view — natural 'just coming in' timing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observer.unobserve() after trigger — animation fires exactly once, no re-play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CSS does the visual work; JS only toggles one class name (.visible)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JavaScript — Project Filter Tabs  (projects.js)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24128"/>
            <a:ext cx="5943600" cy="5650992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594360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006" y="1123798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9166" y="1123798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6326" y="1123798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088136"/>
            <a:ext cx="534009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090879"/>
            <a:ext cx="52486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projects.js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5943600" cy="5376672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// ── Filter tabs ──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document.querySelectorAll(".filter-btn").forEach(btn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btn.addEventListener("click", function()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// 1. Remove .active from all buttons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document.querySelectorAll(".filter-btn")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.forEach(b =&gt; b.classList.remove("active"))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// 2. Mark clicked button as active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btn.classList.add("active")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// 3. Read filter from data-filter attribute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const filter = btn.dataset.filter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// 4. Show / hide cards by data-category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document.querySelectorAll(".pcard").forEach(card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if (filter === "all")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  card.classList.remove("hidden")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} else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  const cats = card.dataset.category || 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  card.classList.toggle(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    "hidden",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    !cats.split(" ").includes(filter)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// ── Video placeholder fallback ──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const video = document.getElementById("myanpay-video")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const placeholder = document.getElementById("video-placeholder")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if (video &amp;&amp; placeholder)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// Start hidden — only reveal if video proves it loaded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video.style.display = "none"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placeholder.style.display = "flex"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video.addEventListener("loadeddata", ()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placeholder.style.display = "none"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video.style.display = "block"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video.addEventListener("error", ()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video.style.display = "none"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placeholder.style.display = "flex"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0241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Filter tabs in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417320"/>
            <a:ext cx="822960" cy="292608"/>
          </a:xfrm>
          <a:prstGeom prst="round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417320"/>
            <a:ext cx="1463040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555570"/>
                </a:solidFill>
                <a:latin typeface="Arial"/>
              </a:rPr>
              <a:t>Web &amp; 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17320"/>
            <a:ext cx="1188720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555570"/>
                </a:solidFill>
                <a:latin typeface="Arial"/>
              </a:rPr>
              <a:t>AI /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1417320"/>
            <a:ext cx="1554480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555570"/>
                </a:solidFill>
                <a:latin typeface="Arial"/>
              </a:rPr>
              <a:t>In Progress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1828800"/>
            <a:ext cx="1554480" cy="777240"/>
          </a:xfrm>
          <a:prstGeom prst="rect">
            <a:avLst/>
          </a:prstGeom>
          <a:solidFill>
            <a:srgbClr val="13121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9019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Arial"/>
              </a:rPr>
              <a:t>MyanPay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1762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70"/>
                </a:solidFill>
                <a:latin typeface="Arial"/>
              </a:rPr>
              <a:t>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3608" y="1828800"/>
            <a:ext cx="1554480" cy="777240"/>
          </a:xfrm>
          <a:prstGeom prst="rect">
            <a:avLst/>
          </a:prstGeom>
          <a:solidFill>
            <a:srgbClr val="13121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19019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Arial"/>
              </a:rPr>
              <a:t>MyanLearn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1762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70"/>
                </a:solidFill>
                <a:latin typeface="Arial"/>
              </a:rPr>
              <a:t>web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57816" y="1828800"/>
            <a:ext cx="1554480" cy="777240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19019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Arial"/>
              </a:rPr>
              <a:t>NASA NEO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21762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70"/>
                </a:solidFill>
                <a:latin typeface="Arial"/>
              </a:rPr>
              <a:t>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715768"/>
            <a:ext cx="1554480" cy="777240"/>
          </a:xfrm>
          <a:prstGeom prst="rect">
            <a:avLst/>
          </a:prstGeom>
          <a:solidFill>
            <a:srgbClr val="13121F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923C"/>
                </a:solidFill>
                <a:latin typeface="Arial"/>
              </a:rPr>
              <a:t>LLM Scratch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063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70"/>
                </a:solidFill>
                <a:latin typeface="Arial"/>
              </a:rPr>
              <a:t>ml wip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93608" y="2715768"/>
            <a:ext cx="1554480" cy="777240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Arial"/>
              </a:rPr>
              <a:t>Face Clf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063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70"/>
                </a:solidFill>
                <a:latin typeface="Arial"/>
              </a:rPr>
              <a:t>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7816" y="2715768"/>
            <a:ext cx="1554480" cy="777240"/>
          </a:xfrm>
          <a:prstGeom prst="rect">
            <a:avLst/>
          </a:prstGeom>
          <a:solidFill>
            <a:srgbClr val="13121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7816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Arial"/>
              </a:rPr>
              <a:t>CF Reviewer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7816" y="3063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70"/>
                </a:solidFill>
                <a:latin typeface="Arial"/>
              </a:rPr>
              <a:t>web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3602736"/>
            <a:ext cx="1554480" cy="777240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6758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Arial"/>
              </a:rPr>
              <a:t>Minesweeper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9502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70"/>
                </a:solidFill>
                <a:latin typeface="Arial"/>
              </a:rPr>
              <a:t>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9204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HTML: data-filter on buttons, data-category on cards (space-separated for multi-match)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cats.split(' ').includes(filter) — card matches if filter is in its category list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classList.toggle('hidden', condition) — one-liner to add or remove hidden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CSS: .pcard.hidden { display: none } — hiding done in CSS, JS manages only the class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AABB"/>
                </a:solidFill>
                <a:latin typeface="Arial"/>
              </a:rPr>
              <a:t>• Video fallback: shows placeholder by default, reveals video only on successful 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JavaScript — Form Validation  (contact.js)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24128"/>
            <a:ext cx="5852160" cy="5650992"/>
          </a:xfrm>
          <a:prstGeom prst="rect">
            <a:avLst/>
          </a:prstGeom>
          <a:solidFill>
            <a:srgbClr val="0A0A12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5852160" cy="274320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006" y="1123798"/>
            <a:ext cx="74980" cy="7498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9166" y="1123798"/>
            <a:ext cx="74980" cy="7498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6326" y="1123798"/>
            <a:ext cx="74980" cy="7498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088136"/>
            <a:ext cx="5248656" cy="155448"/>
          </a:xfrm>
          <a:prstGeom prst="rect">
            <a:avLst/>
          </a:prstGeom>
          <a:solidFill>
            <a:srgbClr val="0A0A12"/>
          </a:solidFill>
          <a:ln w="635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090879"/>
            <a:ext cx="515721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55570"/>
                </a:solidFill>
                <a:latin typeface="Arial"/>
              </a:rPr>
              <a:t>contact.js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5852160" cy="5376672"/>
          </a:xfrm>
          <a:prstGeom prst="rect">
            <a:avLst/>
          </a:prstGeom>
          <a:solidFill>
            <a:srgbClr val="0A0A12"/>
          </a:solidFill>
          <a:ln w="9525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function showError(fieldId, message)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const el    = document.getElementById(fieldId+"-error")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const input = document.getElementById(fieldId)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if (el)    el.textContent = message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if (input) input.classList.add("input-error")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function clearErrors()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document.querySelectorAll(".form-error")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.forEach(el =&gt; el.textContent = "")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document.querySelectorAll(".input-error")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.forEach(el =&gt; el.classList.remove("input-error"))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successMsg.style.display = "none"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form.addEventListener("submit", function(e)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e.preventDefault()   // stop browser default submit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clearErrors()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const name    = document.getElementById("fname").value.trim()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const email   = document.getElementById("femail").value.trim()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const subject = document.getElementById("fsubject").value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const message = document.getElementById("fmessage").value.trim()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let valid =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if (!name)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showError("fname", "Name is required.")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valid =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// Regex: must have @ and dot in domain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if (!/^[^\s@]+@[^\s@]+\.[^\s@]+$/.test(email))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showError("femail", "Enter a valid email.")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valid =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if (!subject)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showError("fsubject", "Please select a subject.")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valid =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if (message.length &lt; 10)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showError("fmessage", "Min 10 characters.")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valid =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if (valid)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successMsg.style.display = "block"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  form.reset()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CCCCFF"/>
                </a:solidFill>
                <a:latin typeface="Courier New"/>
              </a:rPr>
              <a:t>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0241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Contact form — live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BB"/>
                </a:solidFill>
                <a:latin typeface="Arial"/>
              </a:rPr>
              <a:t>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645920"/>
            <a:ext cx="5394960" cy="320040"/>
          </a:xfrm>
          <a:prstGeom prst="rect">
            <a:avLst/>
          </a:prstGeom>
          <a:solidFill>
            <a:srgbClr val="13121F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73352"/>
            <a:ext cx="5257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Arial"/>
              </a:rPr>
              <a:t>Your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6712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BB"/>
                </a:solidFill>
                <a:latin typeface="Arial"/>
              </a:rPr>
              <a:t>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395728"/>
            <a:ext cx="5394960" cy="320040"/>
          </a:xfrm>
          <a:prstGeom prst="rect">
            <a:avLst/>
          </a:prstGeom>
          <a:solidFill>
            <a:srgbClr val="13121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423160"/>
            <a:ext cx="5257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87171"/>
                </a:solidFill>
                <a:latin typeface="Arial"/>
              </a:rPr>
              <a:t>Please enter a valid email address.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6148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7171"/>
                </a:solidFill>
                <a:latin typeface="Arial"/>
              </a:rPr>
              <a:t>✕ Please enter a valid email address.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1693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BB"/>
                </a:solidFill>
                <a:latin typeface="Arial"/>
              </a:rPr>
              <a:t>Subject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145536"/>
            <a:ext cx="5394960" cy="320040"/>
          </a:xfrm>
          <a:prstGeom prst="rect">
            <a:avLst/>
          </a:prstGeom>
          <a:solidFill>
            <a:srgbClr val="13121F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172968"/>
            <a:ext cx="5257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Arial"/>
              </a:rPr>
              <a:t>Select a subject 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66744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AABB"/>
                </a:solidFill>
                <a:latin typeface="Arial"/>
              </a:rPr>
              <a:t>Message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895344"/>
            <a:ext cx="5394960" cy="502920"/>
          </a:xfrm>
          <a:prstGeom prst="rect">
            <a:avLst/>
          </a:prstGeom>
          <a:solidFill>
            <a:srgbClr val="13121F"/>
          </a:solidFill>
          <a:ln w="12700">
            <a:solidFill>
              <a:srgbClr val="282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922776"/>
            <a:ext cx="5257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Arial"/>
              </a:rPr>
              <a:t>Tell me what you are working on...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599432"/>
            <a:ext cx="1463040" cy="347472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4515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Send Message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5038344"/>
            <a:ext cx="5394960" cy="347472"/>
          </a:xfrm>
          <a:prstGeom prst="rect">
            <a:avLst/>
          </a:prstGeom>
          <a:solidFill>
            <a:srgbClr val="0D2A22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51023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D399"/>
                </a:solidFill>
                <a:latin typeface="Arial"/>
              </a:rPr>
              <a:t>✓  Thanks! I will get back to you within 24 hours.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559552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AAAABB"/>
                </a:solidFill>
                <a:latin typeface="Arial"/>
              </a:rPr>
              <a:t>• novalidate on &lt;form&gt; — disables browser default validation, we control all styles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AAABB"/>
                </a:solidFill>
                <a:latin typeface="Arial"/>
              </a:rPr>
              <a:t>• Regex /^[^\s@]+@[^\s@]+\.[^\s@]+$/ validates email without any library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AAABB"/>
                </a:solidFill>
                <a:latin typeface="Arial"/>
              </a:rPr>
              <a:t>• input-error CSS class turns field border red (#f87171) — instant visual feedback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AAABB"/>
                </a:solidFill>
                <a:latin typeface="Arial"/>
              </a:rPr>
              <a:t>• Real-time clear: errors remove as user starts typing — not frustrating to 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Experience Page — DICE Lab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68580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919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70"/>
                </a:solidFill>
                <a:latin typeface="Arial"/>
              </a:rPr>
              <a:t>↑ Autoformalization Research Website (dicelab-rhul.github.io) — built on the codebase I contributed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0241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7BFF"/>
                </a:solidFill>
                <a:latin typeface="Arial"/>
              </a:rPr>
              <a:t>DICE Lab · Volunteer Research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371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70"/>
                </a:solidFill>
                <a:latin typeface="Arial"/>
              </a:rPr>
              <a:t>Royal Holloway, University of London · Mar 2026–Present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1907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Eliminated 100% of citation-rendering failures by rewriting the BibTeX parser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4 production-ready PRs in 2 weeks as sole student contributor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Zero regressions in a six-person research codebase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Tracking 200+ autoformalization papers (GAMA/LELMA)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AAABB"/>
                </a:solidFill>
                <a:latin typeface="Arial"/>
              </a:rPr>
              <a:t>• TypeScript · BibTeX · Git/GitHub · Neurosymbolic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794760"/>
            <a:ext cx="4389120" cy="1024128"/>
          </a:xfrm>
          <a:prstGeom prst="rect">
            <a:avLst/>
          </a:prstGeom>
          <a:solidFill>
            <a:srgbClr val="13121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38679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  <a:latin typeface="Arial"/>
              </a:rPr>
              <a:t>Student Representative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1148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70"/>
                </a:solidFill>
                <a:latin typeface="Arial"/>
              </a:rPr>
              <a:t>BSc CS (AI), RHUL · Jan 2026–Present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3251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BB"/>
                </a:solidFill>
                <a:latin typeface="Arial"/>
              </a:rPr>
              <a:t>Elected cohort rep for 27 students. Secured flexible timetable.
Leadership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4937760"/>
            <a:ext cx="4389120" cy="1024128"/>
          </a:xfrm>
          <a:prstGeom prst="rect">
            <a:avLst/>
          </a:prstGeom>
          <a:solidFill>
            <a:srgbClr val="13121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50109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Arial"/>
              </a:rPr>
              <a:t>Technology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2578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70"/>
                </a:solidFill>
                <a:latin typeface="Arial"/>
              </a:rPr>
              <a:t>Neuroscience Society · Mar 2026–Present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54681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BB"/>
                </a:solidFill>
                <a:latin typeface="Arial"/>
              </a:rPr>
              <a:t>Automated 3 events with Power Automate. Saved ~3 hrs/event.
Tech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Pages Walkthrough — Visual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" y="1097280"/>
            <a:ext cx="2194560" cy="4846320"/>
          </a:xfrm>
          <a:prstGeom prst="rect">
            <a:avLst/>
          </a:prstGeom>
          <a:solidFill>
            <a:srgbClr val="0A0A12"/>
          </a:solidFill>
          <a:ln w="1905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" y="1097280"/>
            <a:ext cx="2194560" cy="256032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462" y="1195578"/>
            <a:ext cx="59436" cy="5943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8046" y="1195578"/>
            <a:ext cx="59436" cy="5943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8630" y="1195578"/>
            <a:ext cx="59436" cy="59436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" y="1353312"/>
            <a:ext cx="2194560" cy="201168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" y="1600200"/>
            <a:ext cx="2048256" cy="777240"/>
          </a:xfrm>
          <a:prstGeom prst="rect">
            <a:avLst/>
          </a:prstGeom>
          <a:solidFill>
            <a:srgbClr val="13121F"/>
          </a:solidFill>
          <a:ln w="9525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" y="1899920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7BFF"/>
                </a:solidFill>
                <a:latin typeface="Arial"/>
              </a:rPr>
              <a:t>hero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" y="2432304"/>
            <a:ext cx="2048256" cy="777240"/>
          </a:xfrm>
          <a:prstGeom prst="rect">
            <a:avLst/>
          </a:prstGeom>
          <a:solidFill>
            <a:srgbClr val="13121F"/>
          </a:solidFill>
          <a:ln w="9525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" y="2732024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stats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" y="3264408"/>
            <a:ext cx="2048256" cy="777240"/>
          </a:xfrm>
          <a:prstGeom prst="rect">
            <a:avLst/>
          </a:prstGeom>
          <a:solidFill>
            <a:srgbClr val="13121F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" y="3564128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  <a:latin typeface="Arial"/>
              </a:rPr>
              <a:t>projects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" y="4096512"/>
            <a:ext cx="2048256" cy="777240"/>
          </a:xfrm>
          <a:prstGeom prst="rect">
            <a:avLst/>
          </a:prstGeom>
          <a:solidFill>
            <a:srgbClr val="13121F"/>
          </a:solidFill>
          <a:ln w="95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" y="4396232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5B4FC"/>
                </a:solidFill>
                <a:latin typeface="Arial"/>
              </a:rPr>
              <a:t>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" y="4928616"/>
            <a:ext cx="2048256" cy="777240"/>
          </a:xfrm>
          <a:prstGeom prst="rect">
            <a:avLst/>
          </a:prstGeom>
          <a:solidFill>
            <a:srgbClr val="13121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" y="5228336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923C"/>
                </a:solidFill>
                <a:latin typeface="Arial"/>
              </a:rPr>
              <a:t>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" y="5998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67BFF"/>
                </a:solidFill>
                <a:latin typeface="Arial"/>
              </a:rPr>
              <a:t>Home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1468" y="1097280"/>
            <a:ext cx="2194560" cy="4846320"/>
          </a:xfrm>
          <a:prstGeom prst="rect">
            <a:avLst/>
          </a:prstGeom>
          <a:solidFill>
            <a:srgbClr val="0A0A1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1468" y="1097280"/>
            <a:ext cx="2194560" cy="256032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63190" y="1195578"/>
            <a:ext cx="59436" cy="5943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63774" y="1195578"/>
            <a:ext cx="59436" cy="5943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64358" y="1195578"/>
            <a:ext cx="59436" cy="59436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1468" y="1353312"/>
            <a:ext cx="2194560" cy="201168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74620" y="160020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1196" y="200393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  <a:latin typeface="Arial"/>
              </a:rPr>
              <a:t>hero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4620" y="264033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11196" y="304406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bio 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4620" y="368046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11196" y="408419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5B4FC"/>
                </a:solidFill>
                <a:latin typeface="Arial"/>
              </a:rPr>
              <a:t>edu card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74620" y="472059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11196" y="512432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7BFF"/>
                </a:solidFill>
                <a:latin typeface="Arial"/>
              </a:rPr>
              <a:t>cta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1468" y="5998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Arial"/>
              </a:rPr>
              <a:t>About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97196" y="1097280"/>
            <a:ext cx="2194560" cy="4846320"/>
          </a:xfrm>
          <a:prstGeom prst="rect">
            <a:avLst/>
          </a:prstGeom>
          <a:solidFill>
            <a:srgbClr val="0A0A1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7196" y="1097280"/>
            <a:ext cx="2194560" cy="256032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58918" y="1195578"/>
            <a:ext cx="59436" cy="5943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59502" y="1195578"/>
            <a:ext cx="59436" cy="5943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60086" y="1195578"/>
            <a:ext cx="59436" cy="59436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97196" y="1353312"/>
            <a:ext cx="2194560" cy="201168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0348" y="160020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6924" y="200393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Arial"/>
              </a:rPr>
              <a:t>filter tabs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0348" y="264033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06924" y="304406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7BFF"/>
                </a:solidFill>
                <a:latin typeface="Arial"/>
              </a:rPr>
              <a:t>MyanPay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0348" y="368046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06924" y="408419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5B4FC"/>
                </a:solidFill>
                <a:latin typeface="Arial"/>
              </a:rPr>
              <a:t>7 cards grid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0348" y="472059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06924" y="512432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923C"/>
                </a:solidFill>
                <a:latin typeface="Arial"/>
              </a:rPr>
              <a:t>contact footer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97196" y="5998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Projects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92924" y="1097280"/>
            <a:ext cx="2194560" cy="4846320"/>
          </a:xfrm>
          <a:prstGeom prst="rect">
            <a:avLst/>
          </a:prstGeom>
          <a:solidFill>
            <a:srgbClr val="0A0A12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2924" y="1097280"/>
            <a:ext cx="2194560" cy="256032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54646" y="1195578"/>
            <a:ext cx="59436" cy="5943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55230" y="1195578"/>
            <a:ext cx="59436" cy="5943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55814" y="1195578"/>
            <a:ext cx="59436" cy="59436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92924" y="1353312"/>
            <a:ext cx="2194560" cy="201168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66076" y="160020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2652" y="200393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5B4FC"/>
                </a:solidFill>
                <a:latin typeface="Arial"/>
              </a:rPr>
              <a:t>hero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66076" y="264033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02652" y="304406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67BFF"/>
                </a:solidFill>
                <a:latin typeface="Arial"/>
              </a:rPr>
              <a:t>DICE Lab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66076" y="368046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02652" y="408419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  <a:latin typeface="Arial"/>
              </a:rPr>
              <a:t>student rep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66076" y="472059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02652" y="512432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BF24"/>
                </a:solidFill>
                <a:latin typeface="Arial"/>
              </a:rPr>
              <a:t>tech officer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92924" y="5998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  <a:latin typeface="Arial"/>
              </a:rPr>
              <a:t>Experience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88652" y="1097280"/>
            <a:ext cx="2194560" cy="4846320"/>
          </a:xfrm>
          <a:prstGeom prst="rect">
            <a:avLst/>
          </a:prstGeom>
          <a:solidFill>
            <a:srgbClr val="0A0A1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88652" y="1097280"/>
            <a:ext cx="2194560" cy="256032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850374" y="1195578"/>
            <a:ext cx="59436" cy="5943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950958" y="1195578"/>
            <a:ext cx="59436" cy="5943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51542" y="1195578"/>
            <a:ext cx="59436" cy="59436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88652" y="1353312"/>
            <a:ext cx="2194560" cy="201168"/>
          </a:xfrm>
          <a:prstGeom prst="rect">
            <a:avLst/>
          </a:prstGeom>
          <a:solidFill>
            <a:srgbClr val="1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61804" y="160020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98380" y="200393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B923C"/>
                </a:solidFill>
                <a:latin typeface="Arial"/>
              </a:rPr>
              <a:t>hero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61804" y="264033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98380" y="304406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87171"/>
                </a:solidFill>
                <a:latin typeface="Arial"/>
              </a:rPr>
              <a:t>form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61804" y="368046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98380" y="408419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4D399"/>
                </a:solidFill>
                <a:latin typeface="Arial"/>
              </a:rPr>
              <a:t>direct links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61804" y="4720590"/>
            <a:ext cx="2048256" cy="985266"/>
          </a:xfrm>
          <a:prstGeom prst="rect">
            <a:avLst/>
          </a:prstGeom>
          <a:solidFill>
            <a:srgbClr val="13121F"/>
          </a:solidFill>
          <a:ln w="9525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98380" y="5124323"/>
            <a:ext cx="197510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70"/>
                </a:solidFill>
                <a:latin typeface="Arial"/>
              </a:rPr>
              <a:t>availability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8652" y="59984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923C"/>
                </a:solidFill>
                <a:latin typeface="Arial"/>
              </a:rPr>
              <a:t>Contact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External References &amp; Inspirations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5349240" cy="841248"/>
          </a:xfrm>
          <a:prstGeom prst="rect">
            <a:avLst/>
          </a:prstGeom>
          <a:solidFill>
            <a:srgbClr val="13121F"/>
          </a:solidFill>
          <a:ln w="15240">
            <a:solidFill>
              <a:srgbClr val="86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864" cy="841248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7BFF"/>
                </a:solidFill>
                <a:latin typeface="Arial"/>
              </a:rPr>
              <a:t>Google Fonts — Syne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fonts.google.com/specimen/Syne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Arial"/>
              </a:rPr>
              <a:t>Bold headings — geometric, modern feel for skill 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349240" cy="841248"/>
          </a:xfrm>
          <a:prstGeom prst="rect">
            <a:avLst/>
          </a:prstGeom>
          <a:solidFill>
            <a:srgbClr val="13121F"/>
          </a:solidFill>
          <a:ln w="1524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4864" cy="84124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70432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Arial"/>
              </a:rPr>
              <a:t>Google Fonts — DM Mono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26464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fonts.google.com/specimen/DM+Mono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Arial"/>
              </a:rPr>
              <a:t>Monospace labels — gives a technical developer aesthetic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66544"/>
            <a:ext cx="5349240" cy="841248"/>
          </a:xfrm>
          <a:prstGeom prst="rect">
            <a:avLst/>
          </a:prstGeom>
          <a:solidFill>
            <a:srgbClr val="13121F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066544"/>
            <a:ext cx="54864" cy="8412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Arial"/>
              </a:rPr>
              <a:t>MDN — CSS Grid 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developer.mozilla.org/en-US/docs/Web/CSS/CSS_grid_layout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59689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Arial"/>
              </a:rPr>
              <a:t>Reference for project grid, skills grid, about page layout, video feature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066544"/>
            <a:ext cx="5349240" cy="841248"/>
          </a:xfrm>
          <a:prstGeom prst="rect">
            <a:avLst/>
          </a:prstGeom>
          <a:solidFill>
            <a:srgbClr val="13121F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066544"/>
            <a:ext cx="54864" cy="8412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3969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Arial"/>
              </a:rPr>
              <a:t>MDN — IntersectionObserver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9572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developer.mozilla.org/en-US/docs/Web/API/Intersection_Observer_API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9689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Arial"/>
              </a:rPr>
              <a:t>Core API powering all scroll-triggered fade-in animations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35808"/>
            <a:ext cx="5349240" cy="841248"/>
          </a:xfrm>
          <a:prstGeom prst="rect">
            <a:avLst/>
          </a:prstGeom>
          <a:solidFill>
            <a:srgbClr val="13121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035808"/>
            <a:ext cx="54864" cy="8412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  <a:latin typeface="Arial"/>
              </a:rPr>
              <a:t>MDN — position: sticky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64992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developer.mozilla.org/en-US/docs/Web/CSS/position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661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Arial"/>
              </a:rPr>
              <a:t>Sticky navbar: stays visible while user scrolls the page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035808"/>
            <a:ext cx="5349240" cy="841248"/>
          </a:xfrm>
          <a:prstGeom prst="rect">
            <a:avLst/>
          </a:prstGeom>
          <a:solidFill>
            <a:srgbClr val="13121F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035808"/>
            <a:ext cx="54864" cy="8412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1089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Arial"/>
              </a:rPr>
              <a:t>CSS-Tricks — A Complete Guide to Flexbox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364992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70"/>
                </a:solidFill>
                <a:latin typeface="Courier New"/>
              </a:rPr>
              <a:t>css-tricks.com/snippets/css/a-guide-to-flexbox/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661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Arial"/>
              </a:rPr>
              <a:t>Reference while building the navigation bar and button rows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qeq4e_j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41148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1155680" cy="19050"/>
          </a:xfrm>
          <a:prstGeom prst="rect">
            <a:avLst/>
          </a:prstGeom>
          <a:solidFill>
            <a:srgbClr val="86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67BFF"/>
                </a:solidFill>
                <a:latin typeface="Arial"/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AAAABB"/>
                </a:solidFill>
                <a:latin typeface="Arial"/>
              </a:rPr>
              <a:t>• 5-page personal portfolio website — hand-coded from scratch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AAAABB"/>
                </a:solidFill>
                <a:latin typeface="Arial"/>
              </a:rPr>
              <a:t>• 1 shared CSS stylesheet — 1,100+ lines, zero frameworks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AAAABB"/>
                </a:solidFill>
                <a:latin typeface="Arial"/>
              </a:rPr>
              <a:t>• 6 JavaScript files — 1 shared module + 5 page-specific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AAAABB"/>
                </a:solidFill>
                <a:latin typeface="Arial"/>
              </a:rPr>
              <a:t>• Responsive design — 600px &amp; 700px breakpoints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AAAABB"/>
                </a:solidFill>
                <a:latin typeface="Arial"/>
              </a:rPr>
              <a:t>• Dark theme with #867bff purple accent 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74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67BFF"/>
                </a:solidFill>
                <a:latin typeface="Arial"/>
              </a:rPr>
              <a:t>Key JavaScript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58768"/>
            <a:ext cx="3908145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867BFF"/>
                </a:solidFill>
                <a:latin typeface="Arial"/>
              </a:rPr>
              <a:t>IntersectionObserver scroll animations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70248"/>
            <a:ext cx="4087368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34D399"/>
                </a:solidFill>
                <a:latin typeface="Arial"/>
              </a:rPr>
              <a:t>Project filter tabs (data-* + classList)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81728"/>
            <a:ext cx="3549700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87171"/>
                </a:solidFill>
                <a:latin typeface="Arial"/>
              </a:rPr>
              <a:t>Form validation with inline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4060" y="4681728"/>
            <a:ext cx="3280867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A5B4FC"/>
                </a:solidFill>
                <a:latin typeface="Arial"/>
              </a:rPr>
              <a:t>ES module import/export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93208"/>
            <a:ext cx="2922422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BBF24"/>
                </a:solidFill>
                <a:latin typeface="Arial"/>
              </a:rPr>
              <a:t>CSS :hover dropdown (no JS)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6782" y="5093208"/>
            <a:ext cx="2563977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B923C"/>
                </a:solidFill>
                <a:latin typeface="Arial"/>
              </a:rPr>
              <a:t>Video graceful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560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67BFF"/>
                </a:solidFill>
                <a:latin typeface="Arial"/>
              </a:rPr>
              <a:t>Key CSS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21808"/>
            <a:ext cx="1936699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867BFF"/>
                </a:solidFill>
                <a:latin typeface="Arial"/>
              </a:rPr>
              <a:t>CSS Grid layouts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1059" y="5321808"/>
            <a:ext cx="1757476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34D399"/>
                </a:solidFill>
                <a:latin typeface="Arial"/>
              </a:rPr>
              <a:t>Flexbox navbar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5" y="5321808"/>
            <a:ext cx="2474366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A5B4FC"/>
                </a:solidFill>
                <a:latin typeface="Arial"/>
              </a:rPr>
              <a:t>Card hover transitions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733288"/>
            <a:ext cx="2026310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BBF24"/>
                </a:solidFill>
                <a:latin typeface="Arial"/>
              </a:rPr>
              <a:t>Responsive @media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20670" y="5733288"/>
            <a:ext cx="2205532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B923C"/>
                </a:solidFill>
                <a:latin typeface="Arial"/>
              </a:rPr>
              <a:t>CSS :hover dropdown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144768"/>
            <a:ext cx="2743200" cy="292608"/>
          </a:xfrm>
          <a:prstGeom prst="roundRect">
            <a:avLst/>
          </a:prstGeom>
          <a:solidFill>
            <a:srgbClr val="13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9144" bIns="9144"/>
          <a:lstStyle/>
          <a:p>
            <a:pPr algn="ctr"/>
            <a:r>
              <a:rPr sz="900" b="1">
                <a:solidFill>
                  <a:srgbClr val="F87171"/>
                </a:solidFill>
                <a:latin typeface="Arial"/>
              </a:rPr>
              <a:t>Animate-on-scroll classes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72200"/>
            <a:ext cx="11155680" cy="19050"/>
          </a:xfrm>
          <a:prstGeom prst="rect">
            <a:avLst/>
          </a:prstGeom>
          <a:solidFill>
            <a:srgbClr val="2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7BFF"/>
                </a:solidFill>
                <a:latin typeface="Arial"/>
              </a:rPr>
              <a:t>HTML · CSS · JavaScript — built from scratch, no frameworks or templates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